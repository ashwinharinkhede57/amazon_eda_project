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19" r:id="rId1"/>
  </p:sldMasterIdLst>
  <p:sldIdLst>
    <p:sldId id="256" r:id="rId2"/>
    <p:sldId id="257" r:id="rId3"/>
    <p:sldId id="258" r:id="rId4"/>
    <p:sldId id="259" r:id="rId5"/>
    <p:sldId id="274" r:id="rId6"/>
    <p:sldId id="264" r:id="rId7"/>
    <p:sldId id="268" r:id="rId8"/>
    <p:sldId id="271" r:id="rId9"/>
    <p:sldId id="266" r:id="rId10"/>
    <p:sldId id="262" r:id="rId11"/>
    <p:sldId id="263" r:id="rId12"/>
    <p:sldId id="267" r:id="rId13"/>
    <p:sldId id="269" r:id="rId14"/>
    <p:sldId id="270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hwin harinkhede" initials="ah" lastIdx="3" clrIdx="0">
    <p:extLst>
      <p:ext uri="{19B8F6BF-5375-455C-9EA6-DF929625EA0E}">
        <p15:presenceInfo xmlns:p15="http://schemas.microsoft.com/office/powerpoint/2012/main" userId="0040cfcc87036fd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8T17:15:16.988" idx="1">
    <p:pos x="3563" y="528"/>
    <p:text/>
    <p:extLst>
      <p:ext uri="{C676402C-5697-4E1C-873F-D02D1690AC5C}">
        <p15:threadingInfo xmlns:p15="http://schemas.microsoft.com/office/powerpoint/2012/main" timeZoneBias="-330"/>
      </p:ext>
    </p:extLst>
  </p:cm>
  <p:cm authorId="1" dt="2025-11-18T17:15:17.377" idx="2">
    <p:pos x="10" y="10"/>
    <p:text/>
    <p:extLst>
      <p:ext uri="{C676402C-5697-4E1C-873F-D02D1690AC5C}">
        <p15:threadingInfo xmlns:p15="http://schemas.microsoft.com/office/powerpoint/2012/main" timeZoneBias="-330"/>
      </p:ext>
    </p:extLst>
  </p:cm>
  <p:cm authorId="1" dt="2025-11-18T17:15:17.864" idx="3">
    <p:pos x="106" y="106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7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258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12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26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6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6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8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29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98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60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05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1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29" r:id="rId10"/>
    <p:sldLayoutId id="214748403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540B6B8-F15B-41B1-97B8-4C42B77DF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546" y="4911365"/>
            <a:ext cx="7758260" cy="801278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Stock market shale</a:t>
            </a:r>
            <a:endParaRPr lang="en-IN" sz="4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69733A7-3E85-4B84-8D7A-FD2BD6316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3523" y="1733556"/>
            <a:ext cx="5618515" cy="977621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ok</a:t>
            </a:r>
            <a:endParaRPr lang="en-IN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F2E1A6-AC1B-44DD-BC8B-58858EBF4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90" y="442039"/>
            <a:ext cx="7673419" cy="4157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606" y="1244296"/>
            <a:ext cx="7447175" cy="1049235"/>
          </a:xfrm>
        </p:spPr>
        <p:txBody>
          <a:bodyPr/>
          <a:lstStyle/>
          <a:p>
            <a:r>
              <a:rPr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Objective &amp; Scope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6313" y="1787766"/>
            <a:ext cx="6108569" cy="2278238"/>
          </a:xfrm>
        </p:spPr>
        <p:txBody>
          <a:bodyPr wrap="square"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endParaRPr sz="2800" dirty="0"/>
          </a:p>
          <a:p>
            <a:pPr>
              <a:buFont typeface="Wingdings" panose="05000000000000000000" pitchFamily="2" charset="2"/>
              <a:buChar char="ü"/>
            </a:pPr>
            <a:r>
              <a:rPr sz="2400" dirty="0"/>
              <a:t> Understand overall dataset structure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400" dirty="0"/>
              <a:t> Identify key variables influencing outcomes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400" dirty="0"/>
              <a:t> Detect patterns, trends, and anomalies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400" dirty="0"/>
              <a:t> Define boundaries of analysis for clarity and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900" y="1209524"/>
            <a:ext cx="6571343" cy="1049235"/>
          </a:xfrm>
        </p:spPr>
        <p:txBody>
          <a:bodyPr/>
          <a:lstStyle/>
          <a:p>
            <a:r>
              <a:rPr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Analytics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887" y="1545648"/>
            <a:ext cx="6327907" cy="3766704"/>
          </a:xfrm>
        </p:spPr>
        <p:txBody>
          <a:bodyPr wrap="square"/>
          <a:lstStyle/>
          <a:p>
            <a:endParaRPr dirty="0"/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Data collection and understanding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Data cleaning and preprocessing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Exploratory Data Analysis (EDA)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Feature selection and transformation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 Insights generation for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329" y="1281959"/>
            <a:ext cx="6571343" cy="1049235"/>
          </a:xfrm>
        </p:spPr>
        <p:txBody>
          <a:bodyPr/>
          <a:lstStyle/>
          <a:p>
            <a:r>
              <a:rPr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329" y="1580376"/>
            <a:ext cx="7501282" cy="2328420"/>
          </a:xfrm>
        </p:spPr>
        <p:txBody>
          <a:bodyPr wrap="square">
            <a:normAutofit lnSpcReduction="10000"/>
          </a:bodyPr>
          <a:lstStyle/>
          <a:p>
            <a:endParaRPr sz="2000" dirty="0"/>
          </a:p>
          <a:p>
            <a:pPr>
              <a:buFont typeface="Wingdings" panose="05000000000000000000" pitchFamily="2" charset="2"/>
              <a:buChar char="ü"/>
            </a:pPr>
            <a:r>
              <a:rPr sz="2000" dirty="0"/>
              <a:t> Python: pandas, </a:t>
            </a:r>
            <a:r>
              <a:rPr lang="en-US" dirty="0" err="1"/>
              <a:t>n</a:t>
            </a:r>
            <a:r>
              <a:rPr sz="2000" dirty="0" err="1"/>
              <a:t>umpy</a:t>
            </a:r>
            <a:r>
              <a:rPr lang="en-US" sz="2000" dirty="0"/>
              <a:t>,</a:t>
            </a:r>
            <a:r>
              <a:rPr lang="en-US" dirty="0"/>
              <a:t> </a:t>
            </a:r>
            <a:r>
              <a:rPr sz="2000" dirty="0"/>
              <a:t>matplotlib, seaborn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000" dirty="0"/>
              <a:t> Data cleaning: handling missing values, outliers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000" dirty="0"/>
              <a:t> Visualization: histograms, scatterplots, correlation heatmaps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000" dirty="0"/>
              <a:t> Statistical summary and distribution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2780" y="1303921"/>
            <a:ext cx="6571343" cy="1049235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Visualization (EDA)</a:t>
            </a:r>
            <a:endParaRPr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2780" y="2045397"/>
            <a:ext cx="5521653" cy="2324190"/>
          </a:xfrm>
        </p:spPr>
        <p:txBody>
          <a:bodyPr wrap="square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Univariate analysis: distribution plots, box plots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Bivariate analysis: scatter plots, pair plots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Correlation matrix for relationships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Category-wise comparison bar and count plots</a:t>
            </a:r>
          </a:p>
          <a:p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28168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5E10-87A9-4DCC-88B7-180888847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825" y="1290930"/>
            <a:ext cx="7244821" cy="105930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Distribution of daily returns</a:t>
            </a:r>
            <a:endParaRPr lang="en-IN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CA83-3D19-435E-BAF0-D43B2FA7E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7288" y="2122260"/>
            <a:ext cx="4019415" cy="363262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Shape: The distribution appears to be roughly bell-shaped, indicating a possible normal distribution.</a:t>
            </a:r>
          </a:p>
          <a:p>
            <a:r>
              <a:rPr lang="en-US" dirty="0"/>
              <a:t>Central Tendency: The peak of the distribution is centered around suggesting a mean daily return close to 0</a:t>
            </a:r>
          </a:p>
          <a:p>
            <a:r>
              <a:rPr lang="en-US" dirty="0"/>
              <a:t>Symmetry: The histogram seems fairly symmetric around the center</a:t>
            </a:r>
          </a:p>
          <a:p>
            <a:r>
              <a:rPr lang="en-US" dirty="0"/>
              <a:t> Spread: Daily returns range approximately from -0.04 to 0.02, indicating variability in returns.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D29612-4FCB-4166-AD3C-312B450425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89499" y="2122260"/>
            <a:ext cx="3877213" cy="3632629"/>
          </a:xfrm>
        </p:spPr>
      </p:pic>
    </p:spTree>
    <p:extLst>
      <p:ext uri="{BB962C8B-B14F-4D97-AF65-F5344CB8AC3E}">
        <p14:creationId xmlns:p14="http://schemas.microsoft.com/office/powerpoint/2010/main" val="86476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0C9B-DF72-4908-8211-0ABC24CB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871" y="1300178"/>
            <a:ext cx="8017508" cy="105930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Close price Distributions by month</a:t>
            </a:r>
            <a:endParaRPr lang="en-IN" sz="28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4D86-FC68-4A11-BF50-DDEF5E280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5785" y="2170947"/>
            <a:ext cx="3636980" cy="353060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 The graph appears to be a box plot showing Close Price Distribution by Month, but the days shown are actually weekdays (Friday to Thursday), not months</a:t>
            </a:r>
          </a:p>
          <a:p>
            <a:r>
              <a:rPr lang="en-US" dirty="0"/>
              <a:t> The box plot displays median close prices and variability for each weekday.</a:t>
            </a:r>
          </a:p>
          <a:p>
            <a:r>
              <a:rPr lang="en-US" dirty="0"/>
              <a:t>The days represented are Friday, Monday, Tuesday, Wednesday, and Thursday.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266285-B566-493F-9DF5-B121E74D1F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22992" y="2242810"/>
            <a:ext cx="3714160" cy="3386875"/>
          </a:xfrm>
        </p:spPr>
      </p:pic>
    </p:spTree>
    <p:extLst>
      <p:ext uri="{BB962C8B-B14F-4D97-AF65-F5344CB8AC3E}">
        <p14:creationId xmlns:p14="http://schemas.microsoft.com/office/powerpoint/2010/main" val="330100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1229-BA8F-4F4D-B602-E92B0D1E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644" y="1300900"/>
            <a:ext cx="6571343" cy="105930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Spread of stock prices</a:t>
            </a:r>
            <a:endParaRPr lang="en-IN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62C2-96AD-4A85-85AD-8BFF12F3C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3378" y="2120925"/>
            <a:ext cx="4251208" cy="353515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Open: Median around 52-53, moderate spread, symmetrical distribution.</a:t>
            </a:r>
          </a:p>
          <a:p>
            <a:r>
              <a:rPr lang="en-US" dirty="0"/>
              <a:t> Close: Median slightly lower than Open, similar spread, possibly slightly skewed.</a:t>
            </a:r>
          </a:p>
          <a:p>
            <a:r>
              <a:rPr lang="en-US" dirty="0"/>
              <a:t>High: Median higher than Open/Close, wider spread, indicates higher volatility at peaks.</a:t>
            </a:r>
          </a:p>
          <a:p>
            <a:r>
              <a:rPr lang="en-US" dirty="0"/>
              <a:t> Low: Median lowest among the four, spread indicates variability in lows.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97BF8F-AEEE-475C-A3EA-72EE284242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17097" y="2232943"/>
            <a:ext cx="4053525" cy="3370081"/>
          </a:xfrm>
        </p:spPr>
      </p:pic>
    </p:spTree>
    <p:extLst>
      <p:ext uri="{BB962C8B-B14F-4D97-AF65-F5344CB8AC3E}">
        <p14:creationId xmlns:p14="http://schemas.microsoft.com/office/powerpoint/2010/main" val="4282904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9BD1-9D5D-42AC-878A-51B6A94E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2657" y="1169250"/>
            <a:ext cx="6571343" cy="105930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Volume density</a:t>
            </a:r>
            <a:endParaRPr lang="en-IN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C3E6-DAB0-44C7-BF54-1B22C4104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521" y="2237819"/>
            <a:ext cx="3636980" cy="35306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distribution is positively skewed (right-skewed).</a:t>
            </a:r>
          </a:p>
          <a:p>
            <a:r>
              <a:rPr lang="en-US" dirty="0"/>
              <a:t>Peak density is around a volume of 1e7.- Density approaches zero as volume increases beyond 3e7.</a:t>
            </a:r>
          </a:p>
          <a:p>
            <a:r>
              <a:rPr lang="en-US" dirty="0"/>
              <a:t> The x-axis represents volume, and the y-axis represents density.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9A5A26-BDB4-485C-810B-48FD2CE180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5122" y="2356701"/>
            <a:ext cx="4088214" cy="3119799"/>
          </a:xfrm>
        </p:spPr>
      </p:pic>
    </p:spTree>
    <p:extLst>
      <p:ext uri="{BB962C8B-B14F-4D97-AF65-F5344CB8AC3E}">
        <p14:creationId xmlns:p14="http://schemas.microsoft.com/office/powerpoint/2010/main" val="1412800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E628-995C-4320-BF98-11306175C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55" y="1343320"/>
            <a:ext cx="7383709" cy="105930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Average Closing price by year</a:t>
            </a:r>
            <a:endParaRPr lang="en-IN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F41B-3204-467B-A04F-0067E402A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984" y="2104460"/>
            <a:ext cx="3886200" cy="3579903"/>
          </a:xfrm>
        </p:spPr>
        <p:txBody>
          <a:bodyPr>
            <a:normAutofit fontScale="92500"/>
          </a:bodyPr>
          <a:lstStyle/>
          <a:p>
            <a:r>
              <a:rPr lang="en-US" dirty="0"/>
              <a:t>The average closing price shows a steady increase from 2014 to 2024.</a:t>
            </a:r>
          </a:p>
          <a:p>
            <a:r>
              <a:rPr lang="en-US" dirty="0"/>
              <a:t>The price range appears to be between approximately 40 and 60 units, based on the y-axis</a:t>
            </a:r>
          </a:p>
          <a:p>
            <a:r>
              <a:rPr lang="en-US" dirty="0"/>
              <a:t> The graph indicates a consistent upward trend with no visible sharp declines or anomalies in the data from 2014 to 2024.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E4B2A0-9A5C-458D-B325-30D56561CD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88816" y="2253006"/>
            <a:ext cx="3886200" cy="3439574"/>
          </a:xfrm>
        </p:spPr>
      </p:pic>
    </p:spTree>
    <p:extLst>
      <p:ext uri="{BB962C8B-B14F-4D97-AF65-F5344CB8AC3E}">
        <p14:creationId xmlns:p14="http://schemas.microsoft.com/office/powerpoint/2010/main" val="168265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170B-F389-4689-8833-376EE34C3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887" y="1333893"/>
            <a:ext cx="7572065" cy="626277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Distribution of daily Returns</a:t>
            </a:r>
            <a:endParaRPr lang="en-IN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BFF4-A510-415A-95A0-8F7F10CCF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95" y="2121030"/>
            <a:ext cx="4397055" cy="34784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graph shows the Distribution of Daily Returns for a week (Monday to Friday)</a:t>
            </a:r>
          </a:p>
          <a:p>
            <a:r>
              <a:rPr lang="en-US" dirty="0"/>
              <a:t> The returns are relatively consistent across the days, with values around 50.</a:t>
            </a:r>
          </a:p>
          <a:p>
            <a:r>
              <a:rPr lang="en-US" dirty="0"/>
              <a:t>The exact values appear to be:    Monday: approximately 50    Tuesday: approximately 50     Thursday: approximately 50     Wednesday: approximately 50     Friday: approximately 50</a:t>
            </a:r>
          </a:p>
          <a:p>
            <a:r>
              <a:rPr lang="en-US" dirty="0"/>
              <a:t>There is minimal variation in returns throughout the week.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A12788-7BAA-483C-A3BD-E8FDD8184B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52919" y="2215299"/>
            <a:ext cx="3552186" cy="3478491"/>
          </a:xfrm>
        </p:spPr>
      </p:pic>
    </p:spTree>
    <p:extLst>
      <p:ext uri="{BB962C8B-B14F-4D97-AF65-F5344CB8AC3E}">
        <p14:creationId xmlns:p14="http://schemas.microsoft.com/office/powerpoint/2010/main" val="397992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06EC-A35B-41D9-8DEF-341A4E7C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369" y="1108861"/>
            <a:ext cx="6571343" cy="105930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Volume density</a:t>
            </a:r>
            <a:endParaRPr lang="en-IN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34DBC-7709-4A42-992A-D5DF95B8C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506" y="2375555"/>
            <a:ext cx="3636980" cy="35306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distribution is positively skewed (right-skewed)</a:t>
            </a:r>
          </a:p>
          <a:p>
            <a:r>
              <a:rPr lang="en-US" dirty="0"/>
              <a:t>Peak density is around a volume of 1e7.</a:t>
            </a:r>
          </a:p>
          <a:p>
            <a:r>
              <a:rPr lang="en-US" dirty="0"/>
              <a:t>Density approaches zero as volume increases beyond 3e7.</a:t>
            </a:r>
          </a:p>
          <a:p>
            <a:r>
              <a:rPr lang="en-US" dirty="0"/>
              <a:t>The x-axis represents volume, and the y-axis represents density.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E05DA8-0E1F-4422-8869-2C92D8D762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51110" y="2394409"/>
            <a:ext cx="4048746" cy="2997722"/>
          </a:xfrm>
        </p:spPr>
      </p:pic>
    </p:spTree>
    <p:extLst>
      <p:ext uri="{BB962C8B-B14F-4D97-AF65-F5344CB8AC3E}">
        <p14:creationId xmlns:p14="http://schemas.microsoft.com/office/powerpoint/2010/main" val="2925241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3079-E93C-4080-BDE3-9E06BF1B6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972" y="1225219"/>
            <a:ext cx="7211505" cy="1143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30-Day Rolling mean of class price</a:t>
            </a:r>
            <a:endParaRPr lang="en-IN" sz="28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209F9-83FF-4019-B589-D5BA66035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521" y="2067938"/>
            <a:ext cx="3636980" cy="35306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graph shows a 30-Day Rolling Mean of Close Price, indicating a general upward trend over time with fluctuations.</a:t>
            </a:r>
          </a:p>
          <a:p>
            <a:r>
              <a:rPr lang="en-US" dirty="0"/>
              <a:t>The price appears to have increased from around 40 to above 60 over the period shown, with volatility evident in the jagged line.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545FC4-9A40-4CA3-9573-CDC11291BD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56757" y="2183548"/>
            <a:ext cx="3839720" cy="3299381"/>
          </a:xfrm>
        </p:spPr>
      </p:pic>
    </p:spTree>
    <p:extLst>
      <p:ext uri="{BB962C8B-B14F-4D97-AF65-F5344CB8AC3E}">
        <p14:creationId xmlns:p14="http://schemas.microsoft.com/office/powerpoint/2010/main" val="253321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F2DC8-731F-42E1-89D7-16B87F87D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274860"/>
            <a:ext cx="6946365" cy="105930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Volume Distribution by Year</a:t>
            </a:r>
            <a:endParaRPr lang="en-IN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F46AA-53A6-4B97-838E-0F9F7D7D5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783" y="2194374"/>
            <a:ext cx="3514583" cy="34375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graph shows a volume distribution by year from 2014 to 2024, with each year represented by a violin plot displaying the distribution of volumes.</a:t>
            </a:r>
          </a:p>
          <a:p>
            <a:r>
              <a:rPr lang="en-US" dirty="0"/>
              <a:t>The plots indicate variability in volume across years, with some years showing higher median volumes and wider distributions than others.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64BEAE-F1DA-46B5-B6C9-B86FAE1E43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0" y="2194374"/>
            <a:ext cx="4122018" cy="3437560"/>
          </a:xfrm>
        </p:spPr>
      </p:pic>
    </p:spTree>
    <p:extLst>
      <p:ext uri="{BB962C8B-B14F-4D97-AF65-F5344CB8AC3E}">
        <p14:creationId xmlns:p14="http://schemas.microsoft.com/office/powerpoint/2010/main" val="1852987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6CC8-1014-4B7B-AC5A-BD7CC374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863" y="1264472"/>
            <a:ext cx="7279650" cy="105930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Stoke price components over time</a:t>
            </a:r>
            <a:endParaRPr lang="en-IN" sz="28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DF13F-CE05-42CF-9571-07100B016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219" y="2190942"/>
            <a:ext cx="3598418" cy="34375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graph shows the stock price components over time, with four distinct price points: Open, Close, High, and Low.</a:t>
            </a:r>
          </a:p>
          <a:p>
            <a:r>
              <a:rPr lang="en-US" dirty="0"/>
              <a:t>The price range is depicted on the y-axis, spanning from 0 to 250, while the x-axis represents the index or date, ranging from 0 to 2500.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38C354-EDC0-4A93-B6EB-F843B101C6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0" y="2225917"/>
            <a:ext cx="4213781" cy="3402585"/>
          </a:xfrm>
        </p:spPr>
      </p:pic>
    </p:spTree>
    <p:extLst>
      <p:ext uri="{BB962C8B-B14F-4D97-AF65-F5344CB8AC3E}">
        <p14:creationId xmlns:p14="http://schemas.microsoft.com/office/powerpoint/2010/main" val="488040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FB94-15E6-49FF-BD36-97C82156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130" y="2622614"/>
            <a:ext cx="4486275" cy="1092201"/>
          </a:xfrm>
        </p:spPr>
        <p:txBody>
          <a:bodyPr/>
          <a:lstStyle/>
          <a:p>
            <a:r>
              <a:rPr lang="en-US" sz="4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you!!</a:t>
            </a:r>
            <a:endParaRPr lang="en-IN" sz="4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574850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305</TotalTime>
  <Words>698</Words>
  <Application>Microsoft Office PowerPoint</Application>
  <PresentationFormat>On-screen Show (4:3)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Aharoni</vt:lpstr>
      <vt:lpstr>Arial</vt:lpstr>
      <vt:lpstr>Gill Sans MT</vt:lpstr>
      <vt:lpstr>Wingdings</vt:lpstr>
      <vt:lpstr>Gallery</vt:lpstr>
      <vt:lpstr>Stock market shale</vt:lpstr>
      <vt:lpstr>Objective &amp; Scope of the Study</vt:lpstr>
      <vt:lpstr>Analytics Approach</vt:lpstr>
      <vt:lpstr>Tools and Techniques</vt:lpstr>
      <vt:lpstr>Visualization (EDA)</vt:lpstr>
      <vt:lpstr>Distribution of daily returns</vt:lpstr>
      <vt:lpstr>Close price Distributions by month</vt:lpstr>
      <vt:lpstr>Spread of stock prices</vt:lpstr>
      <vt:lpstr>Volume density</vt:lpstr>
      <vt:lpstr>Average Closing price by year</vt:lpstr>
      <vt:lpstr>Distribution of daily Returns</vt:lpstr>
      <vt:lpstr>Volume density</vt:lpstr>
      <vt:lpstr>30-Day Rolling mean of class price</vt:lpstr>
      <vt:lpstr>Volume Distribution by Year</vt:lpstr>
      <vt:lpstr>Stoke price components over time</vt:lpstr>
      <vt:lpstr>Thank you!!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Study Presentation</dc:title>
  <dc:subject/>
  <dc:creator>Admin</dc:creator>
  <cp:keywords/>
  <dc:description>generated using python-pptx</dc:description>
  <cp:lastModifiedBy>ashwin harinkhede</cp:lastModifiedBy>
  <cp:revision>32</cp:revision>
  <dcterms:created xsi:type="dcterms:W3CDTF">2013-01-27T09:14:16Z</dcterms:created>
  <dcterms:modified xsi:type="dcterms:W3CDTF">2025-12-06T06:54:46Z</dcterms:modified>
  <cp:category/>
</cp:coreProperties>
</file>